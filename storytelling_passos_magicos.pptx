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57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Datathon Passos Mágicos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de dados e modelo preditivo de risco de defasagem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Pós-Tech em Data Analytics ·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Associação Passos Mágicos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Passos Mágicos atua há 35 anos com crianças e jovens em vulnerabilidade social, em Embu Guaçu, São Paulo. O trabalho combina educação de qualidade, apoio psicológico e psicopedagógico, e ampliação de oportunidades de vida.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usa os dados da Pesquisa Extensiva do Desenvolvimento Educacional, o PEDE, para entender a evolução dos alunos entre 2022 e 2024 e para construir uma ferramenta de previsão de risco.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0"/>
            <a:ext cx="1554480" cy="1554480"/>
          </a:xfrm>
          <a:prstGeom prst="roundRect">
            <a:avLst>
              <a:gd name="adj" fmla="val 50000"/>
            </a:avLst>
          </a:prstGeom>
          <a:solidFill>
            <a:srgbClr val="0D3B6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309360" y="35204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dados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(2022, 2023, 2024)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03920" y="1828800"/>
            <a:ext cx="1554480" cy="1554480"/>
          </a:xfrm>
          <a:prstGeom prst="roundRect">
            <a:avLst>
              <a:gd name="adj" fmla="val 50000"/>
            </a:avLst>
          </a:prstGeom>
          <a:solidFill>
            <a:srgbClr val="0D3B66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3.030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0" y="35204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alunos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424160" y="1828800"/>
            <a:ext cx="1554480" cy="1554480"/>
          </a:xfrm>
          <a:prstGeom prst="roundRect">
            <a:avLst>
              <a:gd name="adj" fmla="val 50000"/>
            </a:avLst>
          </a:prstGeom>
          <a:solidFill>
            <a:srgbClr val="0D3B66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149840" y="35204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PEDE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medimos o desenvolvimento do aluno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geral, o INDE, é formado pela combinação ponderada de sete indicadores. Cada um mede um aspecto diferente da jornada do aluno na Passos Mágicos.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de nível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 fase atual do aluno com a fase esperada para a idade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23317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51460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11880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das notas de Matemática, Português e Inglês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23317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251460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em tarefas, atividades e voluntariado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23317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372600" y="251460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93726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72600" y="3063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72600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próprio aluno avalia seu desempenho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892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Psicossocial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5184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equipe de psicologia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41605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/>
        </p:spPr>
      </p:sp>
      <p:sp>
        <p:nvSpPr>
          <p:cNvPr id="31" name="Shape 29"/>
          <p:cNvSpPr/>
          <p:nvPr/>
        </p:nvSpPr>
        <p:spPr>
          <a:xfrm>
            <a:off x="3611880" y="434340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2" name="Text 30"/>
          <p:cNvSpPr/>
          <p:nvPr/>
        </p:nvSpPr>
        <p:spPr>
          <a:xfrm>
            <a:off x="36118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11880" y="4892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Psicopedagógico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11880" y="5184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equipe pedagógica sobre o aluno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41605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7F7F7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2240" y="434340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4892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virada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92240" y="5184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acadêmica, emocional e de engajamento ao longo do tempo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nível dos alunos melhorou ao longo dos anos</a:t>
            </a:r>
            <a:endParaRPr lang="en-US" sz="3000" dirty="0"/>
          </a:p>
        </p:txBody>
      </p:sp>
      <p:pic>
        <p:nvPicPr>
          <p:cNvPr id="4" name="Image 0" descr="/home/claude/pptx_project/charts/p1_defas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148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 alunos com nível adequado subiu de 29% em 2022 para 42% em 2024. Os casos de defasagem moderada ou severa caíram de 22% para 8% no mesmo período. O indicador de adequação de nível, o IAN, também subiu de forma constante.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desempenho acadêmico não seguiu uma linha reta</a:t>
            </a:r>
            <a:endParaRPr lang="en-US" sz="3000" dirty="0"/>
          </a:p>
        </p:txBody>
      </p:sp>
      <p:pic>
        <p:nvPicPr>
          <p:cNvPr id="4" name="Image 0" descr="/home/claude/pptx_project/charts/p2_no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148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indicador de aprendizagem, o IDA, subiu em 2023 e depois caiu em 2024. As notas contam histórias diferentes por disciplina. Inglês melhorou nos três anos. Português teve a maior queda em 2024. Matemática seguiu o mesmo padrão do IDA geral.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 tem relação direta com aprendizagem</a:t>
            </a:r>
            <a:endParaRPr lang="en-US" sz="3000" dirty="0"/>
          </a:p>
        </p:txBody>
      </p:sp>
      <p:pic>
        <p:nvPicPr>
          <p:cNvPr id="4" name="Image 0" descr="/home/claude/pptx_project/charts/p3_correlacao_i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148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engajamento do aluno, o IEG, tem relação moderada e forte com a aprendizagem e com o ponto de virada. É o segundo fator que mais explica o índice geral, o INDE, atrás apenas da nota. Curiosamente, o engajamento quase não se relaciona com o nível do aluno nem com os aspectos psicossociais.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alunos tendem a se autoavaliar acima do desempenho real</a:t>
            </a:r>
            <a:endParaRPr lang="en-US" sz="3000" dirty="0"/>
          </a:p>
        </p:txBody>
      </p:sp>
      <p:pic>
        <p:nvPicPr>
          <p:cNvPr id="4" name="Image 0" descr="/home/claude/pptx_project/charts/p4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148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relação entre a autoavaliação do aluno e sua nota real é fraca. Quase metade dos alunos se avalia bem acima do seu desempenho medido, contra apenas 9% que se avaliam abaixo. A autopercepção não reflete com precisão o desempenho observado pelos avaliadores.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Aspectos psicossociais fracos antecedem quedas de nota</a:t>
            </a:r>
            <a:endParaRPr lang="en-US" sz="3000" dirty="0"/>
          </a:p>
        </p:txBody>
      </p:sp>
      <p:pic>
        <p:nvPicPr>
          <p:cNvPr id="4" name="Image 0" descr="/home/claude/pptx_project/charts/p5_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57607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210312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86600" y="224028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avaliação psicossocial mais baixa em um ano tendem a ter uma queda maior na nota no ano seguinte, em comparação com alunos com avaliação psicossocial mais alta. O efeito é real, mas de tamanho moderado. O indicador sozinho não é suficiente para prever risco, e por isso ele entra como uma das variáveis do modelo preditivo.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avaliação psicopedagógica confirma a defasagem medida</a:t>
            </a:r>
            <a:endParaRPr lang="en-US" sz="3000" dirty="0"/>
          </a:p>
        </p:txBody>
      </p:sp>
      <p:pic>
        <p:nvPicPr>
          <p:cNvPr id="4" name="Image 0" descr="/home/claude/pptx_project/charts/p6_i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148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indicador psicopedagógico, o IPP, cai de forma constante conforme a defasagem do aluno piora. Alunos adequados ao nível têm a melhor avaliação, e alunos com defasagem moderada ou severa têm a pior. As duas medidas caminham na mesma direção.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influencia o ponto de virada do aluno</a:t>
            </a:r>
            <a:endParaRPr lang="en-US" sz="3000" dirty="0"/>
          </a:p>
        </p:txBody>
      </p:sp>
      <p:pic>
        <p:nvPicPr>
          <p:cNvPr id="4" name="Image 0" descr="/home/claude/pptx_project/charts/p7_ip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148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Isolando o efeito de cada indicador, a avaliação psicopedagógica tem o maior peso sobre o ponto de virada, seguida do engajamento e da aprendizagem. Juntos, esses fatores explicam mais da metade da variação do indicador. Engajamento e aprendizagem são os fatores mais fáceis de trabalhar no dia a dia do programa.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os alunos de melhor desempenho</a:t>
            </a:r>
            <a:endParaRPr lang="en-US" sz="3000" dirty="0"/>
          </a:p>
        </p:txBody>
      </p:sp>
      <p:pic>
        <p:nvPicPr>
          <p:cNvPr id="4" name="Image 0" descr="/home/claude/pptx_project/charts/p8_top_in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148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o grupo de 10% melhores alunos com os demais, a maior diferença aparece no nível adequado e no engajamento, mais do que nos aspectos psicossociais e psicopedagógicos. Isso sugere que adequação de nível e engajamento são os fatores mais associados à excelência.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preditivo de risco de defasagem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prevê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probabilidade de um aluno apresentar defasagem moderada ou severa no ano seguinte, ou seja, ficar duas fases ou mais abaixo do nível esperado.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dados o modelo usa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do ano atual do aluno: nível, aprendizagem, engajamento, autoavaliação, aspectos psicossociais, ponto de virada, índice geral, defasagem atual, idade, gênero, fase, notas e tempo de permanência no programa.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modelo foi construído e testado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5321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foram divididos por aluno em treino e teste, para nenhum aluno aparecer nos dois grupos. Foram comparados dois algoritmos, Regressão Logística e Random Forest.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82880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7F7F7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199339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78240" y="199339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analisados,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2022-2023 e 2023-2024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324612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7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341071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78240" y="341071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casos são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risco de defasagem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466344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7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482803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/ 25%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78240" y="482803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entre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teste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do modelo escolhido: Random Forest</a:t>
            </a:r>
            <a:endParaRPr lang="en-US" sz="3000" dirty="0"/>
          </a:p>
        </p:txBody>
      </p:sp>
      <p:pic>
        <p:nvPicPr>
          <p:cNvPr id="4" name="Image 0" descr="/home/claude/pptx_project/charts/p9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4846320" cy="3931920"/>
          </a:xfrm>
          <a:prstGeom prst="rect">
            <a:avLst/>
          </a:prstGeom>
        </p:spPr>
      </p:pic>
      <p:pic>
        <p:nvPicPr>
          <p:cNvPr id="5" name="Image 1" descr="/home/claude/pptx_project/charts/p9_import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783080"/>
            <a:ext cx="6309360" cy="3749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80644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58521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0,90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645920" y="58521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capacidade 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risco de não risco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297680" y="580644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/>
        </p:spPr>
      </p:sp>
      <p:sp>
        <p:nvSpPr>
          <p:cNvPr id="10" name="Text 6"/>
          <p:cNvSpPr/>
          <p:nvPr/>
        </p:nvSpPr>
        <p:spPr>
          <a:xfrm>
            <a:off x="4434840" y="58521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394960" y="58521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proporção de casos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risco identificados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046720" y="5806440"/>
            <a:ext cx="3566160" cy="685800"/>
          </a:xfrm>
          <a:prstGeom prst="roundRect">
            <a:avLst>
              <a:gd name="adj" fmla="val 8000"/>
            </a:avLst>
          </a:prstGeom>
          <a:solidFill>
            <a:srgbClr val="0D3B66"/>
          </a:solidFill>
          <a:ln/>
        </p:spPr>
      </p:sp>
      <p:sp>
        <p:nvSpPr>
          <p:cNvPr id="13" name="Text 9"/>
          <p:cNvSpPr/>
          <p:nvPr/>
        </p:nvSpPr>
        <p:spPr>
          <a:xfrm>
            <a:off x="8183880" y="58521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9144000" y="58521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geral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conjunto de teste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de previsão de risco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foi disponibilizado em uma aplicação web construída com Streamlit e publicada no Streamlit Community Cloud. A equipe da Passos Mágicos pode inserir os indicadores de um aluno e receber, em segundos, a probabilidade de risco de defasagem no ano seguinte.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95020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simples, com campos para cada indicador do aluno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45312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imediato, com a probabilidade de risco em porcentagem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5604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em três faixas: risco baixo, moderado e alto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577840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45896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exige conhecimento técnico para ser usada no dia a dia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173736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1A4A7A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33832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tech-challenge-5-raszzrhcgxtpx3eaqjgvxw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4160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em produção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programa consolida quem já está bem, mas oscila na base</a:t>
            </a:r>
            <a:endParaRPr lang="en-US" sz="3000" dirty="0"/>
          </a:p>
        </p:txBody>
      </p:sp>
      <p:pic>
        <p:nvPicPr>
          <p:cNvPr id="4" name="Image 0" descr="/home/claude/pptx_project/charts/p10_transi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37360"/>
            <a:ext cx="5577840" cy="3931920"/>
          </a:xfrm>
          <a:prstGeom prst="rect">
            <a:avLst/>
          </a:prstGeom>
        </p:spPr>
      </p:pic>
      <p:pic>
        <p:nvPicPr>
          <p:cNvPr id="5" name="Image 1" descr="/home/claude/pptx_project/charts/p10_mobil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557784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transições de classificação, a Pedra, ficam praticamente equilibradas entre quem sobe e quem desce em ambos os períodos. A mobilidade de saída do grupo mais vulnerável, o Quartzo, caiu entre os dois períodos, enquanto a permanência dos melhores alunos no topo, o Topázio, aumentou.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11, INSIGHT ADICIONAL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Alunos de escola pública se engajam mais no programa</a:t>
            </a:r>
            <a:endParaRPr lang="en-US" sz="3000" dirty="0"/>
          </a:p>
        </p:txBody>
      </p:sp>
      <p:pic>
        <p:nvPicPr>
          <p:cNvPr id="4" name="Image 0" descr="/home/claude/pptx_project/charts/p11_institu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2011680"/>
            <a:ext cx="4297680" cy="347472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148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de escola privada têm índice geral e nível mais altos, provavelmente refletindo diferenças estruturais entre as redes de ensino. Já o engajamento nas atividades da Passos Mágicos é maior entre alunos de escola pública, sugerindo que o programa pode representar um reforço mais decisivo para quem tem menos acesso.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sugerem para a Passos Mágicos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7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D3B6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 engajamento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fator mais fácil de trabalhar no dia a dia e um dos que mais se relaciona com nota e ponto de virada.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0D3B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938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redobrada ao grupo Quartzo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mobilidade de saída desse grupo caiu. Vale investigar o que mudou entre os dois períodos.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D3B6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133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modelo como apoio, não substituto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probabilidade de risco ajuda a priorizar atenção, mas a decisão final é da equipe pedagógica e psicossocial.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0D3B6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133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autopercepção do aluno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7548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metade dos alunos se avalia acima do desempenho real. Vale trabalhar essa consciência com cuidado.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· Datathon FIAP Pós-Tech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1414</Words>
  <Application>Microsoft Office PowerPoint</Application>
  <PresentationFormat>Widescreen</PresentationFormat>
  <Paragraphs>171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 Basso</cp:lastModifiedBy>
  <cp:revision>2</cp:revision>
  <dcterms:created xsi:type="dcterms:W3CDTF">2026-08-09T04:30:15Z</dcterms:created>
  <dcterms:modified xsi:type="dcterms:W3CDTF">2026-08-09T17:50:11Z</dcterms:modified>
</cp:coreProperties>
</file>